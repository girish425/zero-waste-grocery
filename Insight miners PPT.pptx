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052560" y="731520"/>
            <a:ext cx="2194560" cy="219456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0241280" y="2011680"/>
            <a:ext cx="1188720" cy="1188720"/>
          </a:xfrm>
          <a:prstGeom prst="ellipse">
            <a:avLst/>
          </a:prstGeom>
          <a:solidFill>
            <a:srgbClr val="34A8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595360" y="3200400"/>
            <a:ext cx="914400" cy="914400"/>
          </a:xfrm>
          <a:prstGeom prst="ellipse">
            <a:avLst/>
          </a:prstGeom>
          <a:solidFill>
            <a:srgbClr val="FBBC0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65836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AEC6EB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1600200"/>
            <a:ext cx="77724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br>
              <a:rPr lang="en-US" sz="3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77240" y="3429000"/>
            <a:ext cx="6949440" cy="443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AEC6EB"/>
                </a:solidFill>
                <a:latin typeface="Arial"/>
                <a:ea typeface="Arial"/>
                <a:cs typeface="Arial"/>
                <a:sym typeface="Arial"/>
              </a:rPr>
              <a:t>WASTE NOT,ROT NOT 🍅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77240" y="4251960"/>
            <a:ext cx="6949500" cy="320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INSIGHT MINERS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94360" y="292608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GDGoC HITAM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02 / 07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40080" y="1508760"/>
            <a:ext cx="5303520" cy="100584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endParaRPr dirty="0"/>
          </a:p>
          <a:p>
            <a:pPr marL="0" marR="0" lvl="0" indent="0" algn="ctr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INSIGHT MINERS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217920" y="1508760"/>
            <a:ext cx="5303520" cy="100584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Team Leader</a:t>
            </a:r>
            <a:endParaRPr dirty="0"/>
          </a:p>
          <a:p>
            <a:pPr marL="0" marR="0" lvl="0" indent="0" algn="ctr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K.GIRISH,Girishgtavm@gmail.com,9347073364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55188" y="2810100"/>
            <a:ext cx="10881300" cy="16950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dirty="0"/>
          </a:p>
          <a:p>
            <a:pPr marL="0" lvl="0" indent="0" algn="ctr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E.ANUSHKA YADAV,24e51a6744@hitam,8247732565</a:t>
            </a:r>
          </a:p>
          <a:p>
            <a:pPr marL="0" lvl="0" indent="0" algn="ctr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C.RIKITHA,24e51a6734@hitam.org,6304769367</a:t>
            </a: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40080" y="4800600"/>
            <a:ext cx="5303520" cy="9144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College </a:t>
            </a:r>
            <a:r>
              <a:rPr lang="en-US" sz="1500" b="1" dirty="0">
                <a:solidFill>
                  <a:srgbClr val="4285F4"/>
                </a:solidFill>
              </a:rPr>
              <a:t>Name</a:t>
            </a:r>
            <a:endParaRPr dirty="0"/>
          </a:p>
          <a:p>
            <a:pPr marL="0" marR="0" lvl="0" indent="0" algn="ctr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HITAM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217920" y="4800600"/>
            <a:ext cx="5303520" cy="9144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Team Contact</a:t>
            </a:r>
            <a:endParaRPr dirty="0"/>
          </a:p>
          <a:p>
            <a:pPr marL="0" marR="0" lvl="0" indent="0" algn="ctr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9347073364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94360" y="214682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</a:t>
            </a:r>
            <a:r>
              <a:rPr lang="en-US" sz="900" b="1" i="0" u="none" strike="noStrike" cap="none" dirty="0" err="1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</a:t>
            </a:r>
            <a:r>
              <a:rPr lang="en-US" sz="900" b="1" i="0" u="none" strike="noStrike" cap="none" dirty="0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 HITAM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03 / 07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35857" y="34251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dirty="0"/>
          </a:p>
        </p:txBody>
      </p:sp>
      <p:sp>
        <p:nvSpPr>
          <p:cNvPr id="115" name="Google Shape;115;p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226142" y="844744"/>
            <a:ext cx="11592231" cy="9144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Selected Problem Statement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Zero-Waste Grocery-An Agentic AI Approach to Perishable Demand &amp; Shelf-Life Management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18" name="Google Shape;118;p15"/>
          <p:cNvSpPr/>
          <p:nvPr/>
        </p:nvSpPr>
        <p:spPr>
          <a:xfrm>
            <a:off x="226141" y="1906540"/>
            <a:ext cx="9261988" cy="433466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285F4"/>
                </a:solidFill>
              </a:rPr>
              <a:t>Understanding about the Problem Statement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u="sng" dirty="0">
                <a:solidFill>
                  <a:schemeClr val="tx1"/>
                </a:solidFill>
              </a:rPr>
              <a:t>What is the problem?</a:t>
            </a:r>
          </a:p>
          <a:p>
            <a:pPr marL="285750" marR="0" lvl="0" indent="-2857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Grocery stores often struggle to predict how much fresh food customers will buy and when will the food stored will get expired .</a:t>
            </a:r>
          </a:p>
          <a:p>
            <a:pPr marL="285750" marR="0" lvl="0" indent="-2857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Overstocking leads to food wastage while understocking leads to unhappy customers and missed amount of sales</a:t>
            </a:r>
          </a:p>
          <a:p>
            <a:pPr marR="0" lvl="0" algn="l" rtl="0">
              <a:spcBef>
                <a:spcPts val="700"/>
              </a:spcBef>
              <a:spcAft>
                <a:spcPts val="0"/>
              </a:spcAft>
            </a:pPr>
            <a:r>
              <a:rPr lang="en-US" sz="1100" u="sng" dirty="0">
                <a:solidFill>
                  <a:schemeClr val="tx1"/>
                </a:solidFill>
              </a:rPr>
              <a:t>Why is this problem important and unique?</a:t>
            </a:r>
          </a:p>
          <a:p>
            <a:pPr marL="171450" marR="0" lvl="0" indent="-1714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Complex decisions are to be taken by the stores when to reorder stock, discounts, or retain existing stocks</a:t>
            </a:r>
          </a:p>
          <a:p>
            <a:pPr marL="171450" marR="0" lvl="0" indent="-1714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Unpredictable demand of the customers makes it difficult for the store to analyze the customer trends and replenish the stock </a:t>
            </a:r>
          </a:p>
          <a:p>
            <a:pPr marL="171450" marR="0" lvl="0" indent="-1714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Environmental impact : expired products leads to wastage of food and affects the mankind and the living of the society and may cause inflammation</a:t>
            </a:r>
          </a:p>
          <a:p>
            <a:pPr marR="0" lvl="0" algn="l" rtl="0">
              <a:spcBef>
                <a:spcPts val="700"/>
              </a:spcBef>
              <a:spcAft>
                <a:spcPts val="0"/>
              </a:spcAft>
            </a:pPr>
            <a:r>
              <a:rPr lang="en-US" sz="1100" u="sng" dirty="0">
                <a:solidFill>
                  <a:schemeClr val="tx1"/>
                </a:solidFill>
              </a:rPr>
              <a:t>Who benefits from the solution and how?</a:t>
            </a:r>
          </a:p>
          <a:p>
            <a:pPr marL="171450" marR="0" lvl="0" indent="-1714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Grocery stores, customers, inventory managers, society will benefit from our solution</a:t>
            </a:r>
          </a:p>
          <a:p>
            <a:pPr marL="17145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</a:rPr>
              <a:t>Our solution uses Agentic AI to forecast demand, identify spoilage risks, and recommend smarter inventory decisions.</a:t>
            </a:r>
          </a:p>
          <a:p>
            <a:pPr marL="17145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</a:rPr>
              <a:t>It compares possible actions and provides explainable recommendations for store planners to review and approve.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it enables AI driven decisions and make the beneficiaries understand it clearly</a:t>
            </a:r>
            <a:endParaRPr lang="en-IN" sz="1100" dirty="0">
              <a:solidFill>
                <a:schemeClr val="tx1"/>
              </a:solidFill>
            </a:endParaRPr>
          </a:p>
        </p:txBody>
      </p:sp>
      <p:pic>
        <p:nvPicPr>
          <p:cNvPr id="2" name="Picture 1" descr="150+ Grocery Store Employee Stress Stock Photos and Royalty-Free Pictures - iStock">
            <a:extLst>
              <a:ext uri="{FF2B5EF4-FFF2-40B4-BE49-F238E27FC236}">
                <a16:creationId xmlns:a16="http://schemas.microsoft.com/office/drawing/2014/main" id="{13614253-FE0F-1086-9577-D5A7BCE4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270" y="2261376"/>
            <a:ext cx="2287589" cy="1679403"/>
          </a:xfrm>
          <a:prstGeom prst="roundRect">
            <a:avLst>
              <a:gd name="adj" fmla="val 16667"/>
            </a:avLst>
          </a:prstGeom>
          <a:ln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 descr="Grocery Inventory Management | Best Practices For Success">
            <a:extLst>
              <a:ext uri="{FF2B5EF4-FFF2-40B4-BE49-F238E27FC236}">
                <a16:creationId xmlns:a16="http://schemas.microsoft.com/office/drawing/2014/main" id="{73A84877-D015-C751-558E-11BBE3DDC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270" y="4224644"/>
            <a:ext cx="2394665" cy="1597902"/>
          </a:xfrm>
          <a:prstGeom prst="roundRect">
            <a:avLst>
              <a:gd name="adj" fmla="val 16667"/>
            </a:avLst>
          </a:prstGeom>
          <a:ln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94360" y="292608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GDGoC HITAM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04 / 07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48640" y="4297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dirty="0"/>
          </a:p>
        </p:txBody>
      </p:sp>
      <p:sp>
        <p:nvSpPr>
          <p:cNvPr id="127" name="Google Shape;127;p1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405241" y="908360"/>
            <a:ext cx="11018520" cy="1944013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Solution Overview</a:t>
            </a:r>
            <a:endParaRPr dirty="0"/>
          </a:p>
          <a:p>
            <a:pPr marL="17145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1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Our website </a:t>
            </a:r>
            <a:r>
              <a:rPr lang="en-IN" sz="1100" dirty="0"/>
              <a:t>uses Agentic AI to forecast grocery demand, monitor inventory, and identify products at risk of spoilage. </a:t>
            </a:r>
          </a:p>
          <a:p>
            <a:pPr marL="17145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IN" sz="1100" dirty="0"/>
              <a:t>It recommends smart discounts, stock transfers, and replenishment to reduce food waste, prevent stockouts, and improve profitability. </a:t>
            </a:r>
          </a:p>
          <a:p>
            <a:pPr marL="17145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IN" sz="1100" dirty="0"/>
              <a:t>Store planners can review and approve recommendations before implementation.</a:t>
            </a:r>
          </a:p>
          <a:p>
            <a:pPr marL="17145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IN" sz="1100" b="1" u="sng" dirty="0"/>
              <a:t>NOVELITY</a:t>
            </a:r>
            <a:r>
              <a:rPr lang="en-IN" sz="1100" dirty="0"/>
              <a:t> : In all other existing solutions one agent works at a time but our agents work together to make expiry aware and inventory decisions rather than depending on pre fixed rules or dates for reordering stock and products</a:t>
            </a:r>
          </a:p>
          <a:p>
            <a:pPr marL="17145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IN" sz="1100" dirty="0"/>
              <a:t>So therefore it also makes the society living good and also contributes to the environment by stopping wastage of food and using it efficiently.</a:t>
            </a: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16"/>
          <p:cNvSpPr/>
          <p:nvPr/>
        </p:nvSpPr>
        <p:spPr>
          <a:xfrm>
            <a:off x="201867" y="3016415"/>
            <a:ext cx="4816637" cy="194401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 dirty="0"/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</a:rPr>
              <a:t>Demand forecasting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</a:rPr>
              <a:t>Expiry risk detection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</a:rPr>
              <a:t>Smart discounts and stock transfers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</a:rPr>
              <a:t>Inventory optimization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</a:rPr>
              <a:t>Human-in-the-loop AI provides explainable recommendations for planner approval before execution.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en-IN" sz="1100" dirty="0"/>
          </a:p>
        </p:txBody>
      </p:sp>
      <p:sp>
        <p:nvSpPr>
          <p:cNvPr id="131" name="Google Shape;131;p16"/>
          <p:cNvSpPr/>
          <p:nvPr/>
        </p:nvSpPr>
        <p:spPr>
          <a:xfrm>
            <a:off x="6810500" y="2980589"/>
            <a:ext cx="4816637" cy="194401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Where Agentic AI Fits</a:t>
            </a:r>
            <a:endParaRPr dirty="0"/>
          </a:p>
          <a:p>
            <a:pPr marL="171450" marR="0" lvl="0" indent="-1714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Demand forecasting agent</a:t>
            </a:r>
          </a:p>
          <a:p>
            <a:pPr marL="171450" marR="0" lvl="0" indent="-1714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Spoilage risk agent</a:t>
            </a:r>
          </a:p>
          <a:p>
            <a:pPr marL="171450" marR="0" lvl="0" indent="-171450" algn="l" rtl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/>
                </a:solidFill>
              </a:rPr>
              <a:t>Inventory decision agent </a:t>
            </a:r>
          </a:p>
          <a:p>
            <a:pPr marL="171450" lvl="0" indent="-171450"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</a:rPr>
              <a:t>Allows the store planner to review and approve decisions before implementation.</a:t>
            </a:r>
            <a:endParaRPr lang="en-US" sz="1100" dirty="0">
              <a:solidFill>
                <a:schemeClr val="tx1"/>
              </a:solidFill>
            </a:endParaRPr>
          </a:p>
          <a:p>
            <a:pPr marR="0" lvl="0" algn="l" rtl="0">
              <a:spcBef>
                <a:spcPts val="70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132" name="Google Shape;132;p16"/>
          <p:cNvSpPr/>
          <p:nvPr/>
        </p:nvSpPr>
        <p:spPr>
          <a:xfrm>
            <a:off x="548640" y="5152794"/>
            <a:ext cx="10881360" cy="971851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Workflow / User Journey</a:t>
            </a:r>
            <a:endParaRPr dirty="0"/>
          </a:p>
          <a:p>
            <a:pPr algn="ctr"/>
            <a:r>
              <a:rPr lang="en-IN" sz="1100" dirty="0"/>
              <a:t>Upload Data → </a:t>
            </a:r>
            <a:r>
              <a:rPr lang="en-IN" sz="1100" dirty="0" err="1"/>
              <a:t>Analyze</a:t>
            </a:r>
            <a:r>
              <a:rPr lang="en-IN" sz="1100" dirty="0"/>
              <a:t> Demand &amp; Expiry → Compare Actions → Generate Recommendation → Planner Approves → Track Results</a:t>
            </a:r>
          </a:p>
        </p:txBody>
      </p:sp>
      <p:pic>
        <p:nvPicPr>
          <p:cNvPr id="3" name="Picture 2" descr="The image depicts a futuristic robot holding a recycling bin, surrounded by a cityscape with elements like buildings, a computer screen, and a banana.&#10;&#10;AI-generated content may be incorrect.">
            <a:extLst>
              <a:ext uri="{FF2B5EF4-FFF2-40B4-BE49-F238E27FC236}">
                <a16:creationId xmlns:a16="http://schemas.microsoft.com/office/drawing/2014/main" id="{AC318DDA-C31B-69D8-69E2-FB09A11D9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815" y="3224371"/>
            <a:ext cx="1539373" cy="16003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9120" y="152886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</a:t>
            </a:r>
            <a:r>
              <a:rPr lang="en-US" sz="900" b="1" i="0" u="none" strike="noStrike" cap="none" dirty="0" err="1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</a:t>
            </a:r>
            <a:r>
              <a:rPr lang="en-US" sz="900" b="1" i="0" u="none" strike="noStrike" cap="none" dirty="0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 HITAM</a:t>
            </a:r>
            <a:endParaRPr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05 / 07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9120" y="35510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dirty="0"/>
          </a:p>
        </p:txBody>
      </p:sp>
      <p:sp>
        <p:nvSpPr>
          <p:cNvPr id="141" name="Google Shape;141;p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85795" y="4885275"/>
            <a:ext cx="5166300" cy="13260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100" dirty="0"/>
              <a:t>Language: Python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100" dirty="0"/>
              <a:t>Libraries: Pandas, NumPy, Scikit-learn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100" dirty="0"/>
              <a:t>Dashboard: </a:t>
            </a:r>
            <a:r>
              <a:rPr lang="en-IN" sz="1100" dirty="0" err="1"/>
              <a:t>Streamlit</a:t>
            </a:r>
            <a:r>
              <a:rPr lang="en-IN" sz="1100" dirty="0"/>
              <a:t>, </a:t>
            </a:r>
            <a:r>
              <a:rPr lang="en-IN" sz="1100" dirty="0" err="1"/>
              <a:t>Plotly</a:t>
            </a:r>
            <a:endParaRPr lang="en-IN" sz="1100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100" dirty="0"/>
              <a:t>Data: CSV files / simulated POS, WMS, ERP data</a:t>
            </a: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6200579" y="4885338"/>
            <a:ext cx="5509639" cy="13260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AE0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64575" tIns="118850" rIns="16457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Agent Flow &amp; Guardrails</a:t>
            </a:r>
            <a:endParaRPr dirty="0"/>
          </a:p>
          <a:p>
            <a:r>
              <a:rPr lang="en-IN" sz="1100" dirty="0"/>
              <a:t>Inputs → Data Cleaning → AI Agents → Decision Engine → Planner Approval</a:t>
            </a:r>
          </a:p>
          <a:p>
            <a:endParaRPr lang="en-IN" sz="1100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100" dirty="0"/>
              <a:t>Guardrails: Business rules, stock constraints, and human approval.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100" dirty="0"/>
              <a:t>Evaluation: Track food waste, stockouts, costs, and forecast accuracy.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CFADB-D5C6-269C-06C9-3A0FB8A25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319" y="623036"/>
            <a:ext cx="2331922" cy="4153260"/>
          </a:xfrm>
          <a:prstGeom prst="rect">
            <a:avLst/>
          </a:prstGeom>
        </p:spPr>
      </p:pic>
      <p:pic>
        <p:nvPicPr>
          <p:cNvPr id="7" name="Picture 6" descr="The image illustrates a list of key points for implementing and monitoring safety, compliance, and efficiency in a retail or business context, with an emphasis on actionable measures for each SKU.&#10;&#10;AI-generated content may be incorrect.">
            <a:extLst>
              <a:ext uri="{FF2B5EF4-FFF2-40B4-BE49-F238E27FC236}">
                <a16:creationId xmlns:a16="http://schemas.microsoft.com/office/drawing/2014/main" id="{45403498-7796-EC67-9B0E-336E1C317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722" y="883631"/>
            <a:ext cx="1013548" cy="2644369"/>
          </a:xfrm>
          <a:prstGeom prst="rect">
            <a:avLst/>
          </a:prstGeom>
        </p:spPr>
      </p:pic>
      <p:pic>
        <p:nvPicPr>
          <p:cNvPr id="9" name="Picture 8" descr="The image depicts a comparison of various data storage solutions, including historical sales data, current inventory management, and product expiry tracking, all utilizing database systems.&#10;&#10;AI-generated content may be incorrect.">
            <a:extLst>
              <a:ext uri="{FF2B5EF4-FFF2-40B4-BE49-F238E27FC236}">
                <a16:creationId xmlns:a16="http://schemas.microsoft.com/office/drawing/2014/main" id="{3B865555-2156-C4E1-6E12-1FBA60AFE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094" y="883632"/>
            <a:ext cx="960203" cy="264436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563C21-7BE1-8EB8-1E6F-207DEEF7071A}"/>
              </a:ext>
            </a:extLst>
          </p:cNvPr>
          <p:cNvCxnSpPr/>
          <p:nvPr/>
        </p:nvCxnSpPr>
        <p:spPr>
          <a:xfrm>
            <a:off x="6804283" y="3805084"/>
            <a:ext cx="1101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15CD5-4A4E-5036-2B96-58DF1368CC3F}"/>
              </a:ext>
            </a:extLst>
          </p:cNvPr>
          <p:cNvCxnSpPr>
            <a:endCxn id="7" idx="2"/>
          </p:cNvCxnSpPr>
          <p:nvPr/>
        </p:nvCxnSpPr>
        <p:spPr>
          <a:xfrm flipV="1">
            <a:off x="7905496" y="3528000"/>
            <a:ext cx="0" cy="27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328C5A-F992-CB72-E8BC-842B2F20EEC7}"/>
              </a:ext>
            </a:extLst>
          </p:cNvPr>
          <p:cNvCxnSpPr>
            <a:cxnSpLocks/>
          </p:cNvCxnSpPr>
          <p:nvPr/>
        </p:nvCxnSpPr>
        <p:spPr>
          <a:xfrm flipH="1">
            <a:off x="3885297" y="968478"/>
            <a:ext cx="925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94360" y="292608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GDGoC HITAM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06 / 07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Prototype Screenshots &amp; Project Links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85800" y="1353312"/>
            <a:ext cx="1069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Insert clear screenshots of your working prototype and add short captions</a:t>
            </a:r>
            <a:r>
              <a:rPr lang="en-US" sz="1300">
                <a:solidFill>
                  <a:srgbClr val="646E7D"/>
                </a:solidFill>
              </a:rPr>
              <a:t> (if-any).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/>
        </p:nvSpPr>
        <p:spPr>
          <a:xfrm>
            <a:off x="777240" y="7772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AEC6EB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77240" y="1828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22960" y="2926080"/>
            <a:ext cx="7772400" cy="443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AEC6EB"/>
                </a:solidFill>
              </a:rPr>
              <a:t>WASTE NOT, ROT NOT 🍅</a:t>
            </a:r>
            <a:endParaRPr dirty="0"/>
          </a:p>
        </p:txBody>
      </p:sp>
      <p:sp>
        <p:nvSpPr>
          <p:cNvPr id="164" name="Google Shape;164;p19"/>
          <p:cNvSpPr txBox="1"/>
          <p:nvPr/>
        </p:nvSpPr>
        <p:spPr>
          <a:xfrm>
            <a:off x="822960" y="3794760"/>
            <a:ext cx="88698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FFFF"/>
                </a:solidFill>
              </a:rPr>
              <a:t>Team Name</a:t>
            </a:r>
            <a:r>
              <a:rPr lang="en-US" dirty="0">
                <a:solidFill>
                  <a:srgbClr val="FFFFFF"/>
                </a:solidFill>
              </a:rPr>
              <a:t>: INSIGHT MINERS</a:t>
            </a:r>
            <a:endParaRPr dirty="0"/>
          </a:p>
        </p:txBody>
      </p:sp>
      <p:sp>
        <p:nvSpPr>
          <p:cNvPr id="165" name="Google Shape;165;p19"/>
          <p:cNvSpPr txBox="1"/>
          <p:nvPr/>
        </p:nvSpPr>
        <p:spPr>
          <a:xfrm>
            <a:off x="822960" y="4892040"/>
            <a:ext cx="9601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spAutoFit/>
          </a:bodyPr>
          <a:lstStyle/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BEC8D7"/>
              </a:buClr>
              <a:buSzPts val="1300"/>
              <a:buChar char="●"/>
            </a:pPr>
            <a:r>
              <a:rPr lang="en-US" sz="1300" b="0" i="0" u="none" strike="noStrike" cap="none" dirty="0">
                <a:solidFill>
                  <a:srgbClr val="BEC8D7"/>
                </a:solidFill>
                <a:latin typeface="Arial"/>
                <a:ea typeface="Arial"/>
                <a:cs typeface="Arial"/>
                <a:sym typeface="Arial"/>
              </a:rPr>
              <a:t>GitHub: [URL</a:t>
            </a:r>
            <a:r>
              <a:rPr lang="en-US" sz="1300" dirty="0">
                <a:solidFill>
                  <a:srgbClr val="BEC8D7"/>
                </a:solidFill>
              </a:rPr>
              <a:t>]</a:t>
            </a:r>
            <a:endParaRPr sz="1300" dirty="0">
              <a:solidFill>
                <a:srgbClr val="BEC8D7"/>
              </a:solidFill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BEC8D7"/>
              </a:buClr>
              <a:buSzPts val="1300"/>
              <a:buChar char="●"/>
            </a:pPr>
            <a:r>
              <a:rPr lang="en-US" sz="1300" b="0" i="0" u="none" strike="noStrike" cap="none" dirty="0">
                <a:solidFill>
                  <a:srgbClr val="BEC8D7"/>
                </a:solidFill>
                <a:latin typeface="Arial"/>
                <a:ea typeface="Arial"/>
                <a:cs typeface="Arial"/>
                <a:sym typeface="Arial"/>
              </a:rPr>
              <a:t>Live Demo: [URL]</a:t>
            </a:r>
            <a:endParaRPr dirty="0"/>
          </a:p>
        </p:txBody>
      </p:sp>
      <p:sp>
        <p:nvSpPr>
          <p:cNvPr id="166" name="Google Shape;166;p19"/>
          <p:cNvSpPr/>
          <p:nvPr/>
        </p:nvSpPr>
        <p:spPr>
          <a:xfrm>
            <a:off x="9144000" y="1097280"/>
            <a:ext cx="1463040" cy="146304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0241280" y="2834640"/>
            <a:ext cx="914400" cy="914400"/>
          </a:xfrm>
          <a:prstGeom prst="ellipse">
            <a:avLst/>
          </a:prstGeom>
          <a:solidFill>
            <a:srgbClr val="34A8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8778240" y="4023360"/>
            <a:ext cx="685800" cy="685800"/>
          </a:xfrm>
          <a:prstGeom prst="ellipse">
            <a:avLst/>
          </a:prstGeom>
          <a:solidFill>
            <a:srgbClr val="FBBC0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663</Words>
  <Application>Microsoft Office PowerPoint</Application>
  <PresentationFormat>Widescreen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girish</dc:creator>
  <cp:lastModifiedBy>k girish</cp:lastModifiedBy>
  <cp:revision>2</cp:revision>
  <dcterms:modified xsi:type="dcterms:W3CDTF">2026-10-10T05:21:07Z</dcterms:modified>
</cp:coreProperties>
</file>